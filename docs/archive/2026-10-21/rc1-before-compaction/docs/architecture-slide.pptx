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dbde4edef54a97" /><Relationship Type="http://schemas.openxmlformats.org/officeDocument/2006/relationships/extended-properties" Target="/docProps/app.xml" Id="Rf7682805060c4b1a" /><Relationship Type="http://schemas.openxmlformats.org/officeDocument/2006/relationships/officeDocument" Target="/ppt/presentation.xml" Id="R335593f7b0e343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600f826144803"/>
  </p:sldMasterIdLst>
  <p:notesMasterIdLst>
    <p:notesMasterId xmlns:r="http://schemas.openxmlformats.org/officeDocument/2006/relationships" r:id="R968ec1beca9d47d3"/>
  </p:notesMasterIdLst>
  <p:sldIdLst>
    <p:sldId xmlns:r="http://schemas.openxmlformats.org/officeDocument/2006/relationships" id="256" r:id="R62f35e61bbd84d4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ca73def6314738" /><Relationship Type="http://schemas.openxmlformats.org/officeDocument/2006/relationships/slideMaster" Target="/ppt/slideMasters/slideMaster1.xml" Id="Rfad600f826144803" /><Relationship Type="http://schemas.openxmlformats.org/officeDocument/2006/relationships/notesMaster" Target="/ppt/notesMasters/notesMaster1.xml" Id="R968ec1beca9d47d3" /><Relationship Type="http://schemas.openxmlformats.org/officeDocument/2006/relationships/presProps" Target="/ppt/presProps.xml" Id="R315d938e2e8547c8" /><Relationship Type="http://schemas.openxmlformats.org/officeDocument/2006/relationships/viewProps" Target="/ppt/viewProps.xml" Id="R8c0a1c3f3a3f4153" /><Relationship Type="http://schemas.openxmlformats.org/officeDocument/2006/relationships/tableStyles" Target="/ppt/tableStyles.xml" Id="Rddf9e0e07e744268" /><Relationship Type="http://schemas.openxmlformats.org/officeDocument/2006/relationships/slide" Target="/ppt/slides/slide1.xml" Id="R62f35e61bbd84d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fb4c2ed2d644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65999e690c4a49" /><Relationship Type="http://schemas.openxmlformats.org/officeDocument/2006/relationships/notesMaster" Target="/ppt/notesMasters/notesMaster1.xml" Id="R4c9850e524fc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2026-10-21 R02。現行実装: Windowsホスト0.5.0-preview.1 + gemini-hotspot-trust-20261021-r01。基点97f2e48。</a:t>
            </a:r>
          </a:p>
          <a:p xmlns:a="http://schemas.openxmlformats.org/drawingml/2006/main">
            <a:r>
              <a:t>端末: M5 AtomS3R + Atomic Voice Base A149。Arduino-ESP32 2.0.17、PlatformIO Espressif32 6.11.0。ローカルのMFCC/DTW照合・3回登録。16 kHz/16-bit/mono入力、24 kHz回答。録音と再生は半二重。準備完了→ビープ→終了から0.7秒で発話。</a:t>
            </a:r>
          </a:p>
          <a:p xmlns:a="http://schemas.openxmlformats.org/drawingml/2006/main">
            <a:r>
              <a:t>端末はDHCPゲートウェイへ自動接続。Windowsは稼働中のWi-Fi Direct側IPv4/サブネットを検出し、TCP48443へバインド、HTTP/WS接続元をサブネットで限定する。IPアドレスは固定しない。通常経路にはアプリ独自TLS/Bearer/端末コードを使わず、無線区間の保護と参加認証をWi-Fi暗号化・パスワードに委ねる。同じホットスポットへ参加できる機器も利用可能になる。</a:t>
            </a:r>
          </a:p>
          <a:p xmlns:a="http://schemas.openxmlformats.org/drawingml/2006/main">
            <a:r>
              <a:t>Gemini APIキーはPCのみ。DPAPI保存は任意。登録音声・呼びかけはクラウドへ送らない。質問音声をGemini Liveへ送る。旧USB診断経路・汎用サーバーの旧TLS対応は残るが、この図の通常経路では使用しない。</a:t>
            </a:r>
          </a:p>
          <a:p xmlns:a="http://schemas.openxmlformats.org/drawingml/2006/main">
            <a:r>
              <a:t>利用者確認: コードなし接続、3回登録Call saved、呼びかけ→回答音声・口パク→待受復帰、端末リセット後の自動再接続と再会話。端末測定: MATCH距離188/187、質問PASS/played=1、受付700/701ms。端末リセット試験を電源断試験とは扱わない。長期精度、電源断、別PC、Piは未検証。</a:t>
            </a:r>
          </a:p>
          <a:p xmlns:a="http://schemas.openxmlformats.org/drawingml/2006/main">
            <a:r>
              <a:t>一次資料（案件内）: docs/HOTSPOT_TRUST.md、src/LocalGemini.cpp、include/WirelessLink.h、desktop/wireless.py、desktop/host_app.py、server/gemini-server.ts、docs/WAKE_STAGE3_R07.md。経緯と残作業: docs/RESUME.md。Piは将来候補で今回実装なし。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2d9a3cf9340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6b173ba3c4f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a91052d3f4b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ddd68a23a47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4b6f3c59a4b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3c80830dd4e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d410b83bf4d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4d9a9d13742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39b47109749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aeff85890467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398c8d3ae4dbc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68A4455C-621A-389B-A2B6-9B7A75AC9F6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75E10226-AD4E-E8BA-4FD4-A9E6AAC284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A9784DF-76AE-D0FC-734C-1BEC336A77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8FF0C83E-90ED-90DE-2E6D-0325EB57A1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4637B298-4564-0475-3E7F-FABE379F7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46188DE-F2DF-69FD-8E3C-48D87A5DF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213A082-441C-5AC1-41E3-2B5333260C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580CDF7-F5E4-4A43-50FF-716CAFE6B9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80B165C4-85B4-A2CF-0E24-BE20F04695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1A1C718D-38FC-709A-4C4C-AA88981BF1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B40BFB55-C779-E83A-201C-D8BE05EA8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6EF7A68-E248-5C96-9CFD-55846F6379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D5A6A2C-2F8B-D2F1-B8CA-BDA9F20F02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42742C13-D7B1-A136-82C1-8FE30EC716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F6D45B2A-621E-A7C2-C888-BEA4E7DE13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02F82C6D-0F7E-F8EF-B26C-6E13DFAB3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CAE63487-F302-3607-9295-E21B74C90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5D4CBB6-2806-3FA2-3E4A-B9B0A1CA98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921F1623-60E3-9C63-AFC6-5FA578F7B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F5144850-548B-7B12-CC45-A20E40BA1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1A11F3A5-AF3C-CC7E-F34A-5E0E6366F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69B204D-7EAE-C5F8-2451-FCA52DB93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D5993A7-8137-7F33-B16D-C3F933F980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31EC5D9-03B2-9CCD-371D-D30EC47E456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E9F500B-74F4-3664-8218-D2430B016B2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F79013A-A48D-541D-5AD5-A78A125DEF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44128A3A-42C4-0CE5-F5E8-8EDDED28B7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05D0381E-849F-3D80-52C0-31A75E2A3A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E17CB427-E43D-2544-25B9-8E27254EF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1E37D4-B5E3-6D42-26EA-E6401E029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42D6E7BF-D10D-3333-A4CF-5638FC0542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63C4CE8-2056-0F7E-66A7-AAC7F246A0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0196250-C9A6-B4B7-F843-82027072F6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7936BB2-3BEE-31B1-C86A-F5FA9A9A7E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E26904B-F45D-00A9-D088-AB5C881C8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C7AC750-DE17-5DE6-7842-8B381EB2BD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0A78CE6-A1D0-7C2B-DEDA-A29CC4B70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571C2F2-AC79-F8A0-6486-137869F96B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970A148-65C0-4B0E-4A13-9A6827172D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A7C7297E-D3B0-F9D7-5743-A363A5A76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467EA66-3915-F533-38EB-9AA1156C22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A8D84176-66BC-BE47-D62F-F4DC76202D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022334E-5540-F97B-77B1-081ADED91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B30F60A4-B254-6EA1-7306-52C1BEFE4D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91CBEB9-087B-1DD1-D085-91291506A6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DEC493F-3613-26AD-9A26-0A0FF8B499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DDB56A89-03D4-BA96-07DC-8246D0283A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42393BF6-1C79-E256-CECD-CF600F1FC3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C311310-E405-E334-2D1B-097E518444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4DFFA3A-76A1-D22F-8025-C8AD538437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48D98B2-8349-A944-4BC4-B782C51A01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AAA4F47-2907-033C-FE6A-AAA976D118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F207FE94-7922-9CD7-F469-605F4DE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F4B7675E-8EE1-E161-E858-B792D1CA4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CB3A5C5-F87B-C2C1-0F52-51DADFCC1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74E2DE7-1400-557C-A7FC-BC1E046914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A5D4EFD-7834-D081-7443-B4E60273EA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FD46ADD-CF7D-FA31-CF62-15A6A8695B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9170829451403f" /><Relationship Type="http://schemas.openxmlformats.org/officeDocument/2006/relationships/slideLayout" Target="/ppt/slideLayouts/slideLayout1.xml" Id="Rdc3f36905f50427b" /><Relationship Type="http://schemas.openxmlformats.org/officeDocument/2006/relationships/slideLayout" Target="/ppt/slideLayouts/slideLayout2.xml" Id="Rf4bf0f42841a4980" /><Relationship Type="http://schemas.openxmlformats.org/officeDocument/2006/relationships/slideLayout" Target="/ppt/slideLayouts/slideLayout3.xml" Id="Rd99c906671664e9d" /><Relationship Type="http://schemas.openxmlformats.org/officeDocument/2006/relationships/slideLayout" Target="/ppt/slideLayouts/slideLayout4.xml" Id="R0fdb185c17904bbe" /><Relationship Type="http://schemas.openxmlformats.org/officeDocument/2006/relationships/slideLayout" Target="/ppt/slideLayouts/slideLayout5.xml" Id="R9a16c629d47b421d" /><Relationship Type="http://schemas.openxmlformats.org/officeDocument/2006/relationships/slideLayout" Target="/ppt/slideLayouts/slideLayout6.xml" Id="Reb8aa25b3a7e465c" /><Relationship Type="http://schemas.openxmlformats.org/officeDocument/2006/relationships/slideLayout" Target="/ppt/slideLayouts/slideLayout7.xml" Id="R95db3d96d7ac447a" /><Relationship Type="http://schemas.openxmlformats.org/officeDocument/2006/relationships/slideLayout" Target="/ppt/slideLayouts/slideLayout8.xml" Id="R39509ea0bc0c4080" /><Relationship Type="http://schemas.openxmlformats.org/officeDocument/2006/relationships/slideLayout" Target="/ppt/slideLayouts/slideLayout9.xml" Id="R4ad7ba4f4b324ccc" /><Relationship Type="http://schemas.openxmlformats.org/officeDocument/2006/relationships/slideLayout" Target="/ppt/slideLayouts/slideLayout10.xml" Id="Ra19279933b8e4489" /><Relationship Type="http://schemas.openxmlformats.org/officeDocument/2006/relationships/slideLayout" Target="/ppt/slideLayouts/slideLayout11.xml" Id="R2ef60813e9604e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9C4D2B2-091E-D192-9BB2-C2B00FE07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3F02EED-33E1-C157-A7B2-94893B76E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313B3D8-D77F-6D6C-10DA-AB28C2A240B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B881FD84-5B9F-1CDA-2804-07484A8FB7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5F9D5B8-8B17-C1EE-D13E-234F7387EB8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3f36905f50427b"/>
    <p:sldLayoutId xmlns:r="http://schemas.openxmlformats.org/officeDocument/2006/relationships" id="2147483650" r:id="Rf4bf0f42841a4980"/>
    <p:sldLayoutId xmlns:r="http://schemas.openxmlformats.org/officeDocument/2006/relationships" id="2147483651" r:id="Rd99c906671664e9d"/>
    <p:sldLayoutId xmlns:r="http://schemas.openxmlformats.org/officeDocument/2006/relationships" id="2147483652" r:id="R0fdb185c17904bbe"/>
    <p:sldLayoutId xmlns:r="http://schemas.openxmlformats.org/officeDocument/2006/relationships" id="2147483653" r:id="R9a16c629d47b421d"/>
    <p:sldLayoutId xmlns:r="http://schemas.openxmlformats.org/officeDocument/2006/relationships" id="2147483654" r:id="Reb8aa25b3a7e465c"/>
    <p:sldLayoutId xmlns:r="http://schemas.openxmlformats.org/officeDocument/2006/relationships" id="2147483655" r:id="R95db3d96d7ac447a"/>
    <p:sldLayoutId xmlns:r="http://schemas.openxmlformats.org/officeDocument/2006/relationships" id="2147483656" r:id="R39509ea0bc0c4080"/>
    <p:sldLayoutId xmlns:r="http://schemas.openxmlformats.org/officeDocument/2006/relationships" id="2147483657" r:id="R4ad7ba4f4b324ccc"/>
    <p:sldLayoutId xmlns:r="http://schemas.openxmlformats.org/officeDocument/2006/relationships" id="2147483658" r:id="Ra19279933b8e4489"/>
    <p:sldLayoutId xmlns:r="http://schemas.openxmlformats.org/officeDocument/2006/relationships" id="2147483659" r:id="R2ef60813e9604e3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99d62e68144ac2" /><Relationship Type="http://schemas.openxmlformats.org/officeDocument/2006/relationships/notesSlide" Target="/ppt/notesSlides/notesSlide1.xml" Id="R6f3b73bc92b049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981D471-28A6-E68E-65DF-A5E60A40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 Stackchan 音声対話システム｜構成と接続">
            <a:extLst xmlns:a="http://schemas.openxmlformats.org/drawingml/2006/main">
              <a:ext uri="{FF2B5EF4-FFF2-40B4-BE49-F238E27FC236}">
                <a16:creationId xmlns:a16="http://schemas.microsoft.com/office/drawing/2014/main" id="{F86AE139-2107-5171-0CBB-6CBBC43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951"/>
            <a:ext cx="5663410" cy="35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8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Stackchan </a:t>
            </a:r>
            <a:r>
              <a:rPr sz="228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音声対話システム｜構成と接続</a:t>
            </a:r>
          </a:p>
        </p:txBody>
      </p:sp>
      <p:sp>
        <p:nvSpPr>
          <p:cNvPr id="4" name="Text 現在の開発対象：PC中継版 / Stage3 R07　　">
            <a:extLst xmlns:a="http://schemas.openxmlformats.org/drawingml/2006/main">
              <a:ext uri="{FF2B5EF4-FFF2-40B4-BE49-F238E27FC236}">
                <a16:creationId xmlns:a16="http://schemas.microsoft.com/office/drawing/2014/main" id="{C09DD883-3E01-92E9-5C60-F12B8B6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8045"/>
            <a:ext cx="6811963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596B80"/>
                </a:solidFill>
                <a:latin typeface="Yu Gothic"/>
                <a:ea typeface="Yu Gothic"/>
                <a:cs typeface="Yu Gothic"/>
              </a:rPr>
              <a:t>Windowsホスト 0.5.0-preview.1 / コード入力不要　　2026.10.21　　● 基本確認済み　◇ 今後・未検証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67CD112A-1501-1BC1-8465-AFD076A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43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D5E0EB"/>
            </a:solidFill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FE7864E-CF66-4338-8667-59316ACC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1143000"/>
            <a:ext cx="3543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D5E0EB"/>
            </a:solidFill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D6A9EAF-1448-AD0D-D056-3C772DC8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20" y="1143000"/>
            <a:ext cx="3543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D5E0EB"/>
            </a:solidFill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861CED4-03AF-37DC-C999-ED36919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4330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C83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7E0E878-8BCF-8BC2-FB46-21C653F0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1143000"/>
            <a:ext cx="354330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68E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F2FEE76-58A1-B4F6-98A5-DED2E602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20" y="1143000"/>
            <a:ext cx="354330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A5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 1　端末デバイス">
            <a:extLst xmlns:a="http://schemas.openxmlformats.org/drawingml/2006/main">
              <a:ext uri="{FF2B5EF4-FFF2-40B4-BE49-F238E27FC236}">
                <a16:creationId xmlns:a16="http://schemas.microsoft.com/office/drawing/2014/main" id="{C54A8D9F-EDE6-7AA3-A153-3A42869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51052"/>
            <a:ext cx="1513235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　端末デバイス</a:t>
            </a:r>
          </a:p>
        </p:txBody>
      </p:sp>
      <p:sp>
        <p:nvSpPr>
          <p:cNvPr id="12" name="Text 2　ホストPC">
            <a:extLst xmlns:a="http://schemas.openxmlformats.org/drawingml/2006/main">
              <a:ext uri="{FF2B5EF4-FFF2-40B4-BE49-F238E27FC236}">
                <a16:creationId xmlns:a16="http://schemas.microsoft.com/office/drawing/2014/main" id="{29639FFD-3614-0D4D-728F-EF4C68F3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1251052"/>
            <a:ext cx="1199046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　ホスト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PC</a:t>
            </a:r>
            <a:endParaRPr sz="156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3" name="Text 3　クラウドサービス">
            <a:extLst xmlns:a="http://schemas.openxmlformats.org/drawingml/2006/main">
              <a:ext uri="{FF2B5EF4-FFF2-40B4-BE49-F238E27FC236}">
                <a16:creationId xmlns:a16="http://schemas.microsoft.com/office/drawing/2014/main" id="{ED02D458-91C2-1F5D-4DFD-A2CDAB8B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51052"/>
            <a:ext cx="1913985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　クラウドサービス</a:t>
            </a:r>
          </a:p>
        </p:txBody>
      </p:sp>
      <p:sp>
        <p:nvSpPr>
          <p:cNvPr id="14" name="Text AtomS3R + Atomic Voice Base ">
            <a:extLst xmlns:a="http://schemas.openxmlformats.org/drawingml/2006/main">
              <a:ext uri="{FF2B5EF4-FFF2-40B4-BE49-F238E27FC236}">
                <a16:creationId xmlns:a16="http://schemas.microsoft.com/office/drawing/2014/main" id="{B44D5BA0-167F-D6B9-C375-7ACB005C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1632"/>
            <a:ext cx="2271456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AtomS3R + Atomic Voice Base / C++</a:t>
            </a:r>
            <a:endParaRPr sz="1020">
              <a:solidFill>
                <a:srgbClr val="52657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5" name="Text ● 顔表示・操作・状態管理">
            <a:extLst xmlns:a="http://schemas.openxmlformats.org/drawingml/2006/main">
              <a:ext uri="{FF2B5EF4-FFF2-40B4-BE49-F238E27FC236}">
                <a16:creationId xmlns:a16="http://schemas.microsoft.com/office/drawing/2014/main" id="{643D563D-87CE-30A1-3603-3DA3726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76145"/>
            <a:ext cx="2087110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顔表示・操作・状態管理</a:t>
            </a:r>
          </a:p>
        </p:txBody>
      </p:sp>
      <p:sp>
        <p:nvSpPr>
          <p:cNvPr id="16" name="Text Sleep / 待受 / 録音 / 再生・口パク">
            <a:extLst xmlns:a="http://schemas.openxmlformats.org/drawingml/2006/main">
              <a:ext uri="{FF2B5EF4-FFF2-40B4-BE49-F238E27FC236}">
                <a16:creationId xmlns:a16="http://schemas.microsoft.com/office/drawing/2014/main" id="{2E52B930-4907-07CA-F0C1-68069C9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2344445"/>
            <a:ext cx="2298706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Sleep / 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待受 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/ 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録音 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/ 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再生・口パク</a:t>
            </a:r>
          </a:p>
        </p:txBody>
      </p:sp>
      <p:sp>
        <p:nvSpPr>
          <p:cNvPr id="17" name="Text ● 呼びかけ検出・登録">
            <a:extLst xmlns:a="http://schemas.openxmlformats.org/drawingml/2006/main">
              <a:ext uri="{FF2B5EF4-FFF2-40B4-BE49-F238E27FC236}">
                <a16:creationId xmlns:a16="http://schemas.microsoft.com/office/drawing/2014/main" id="{3F239D5D-55C7-8819-47E3-3CA0FC0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78125"/>
            <a:ext cx="1747273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呼びかけ検出・登録</a:t>
            </a:r>
          </a:p>
        </p:txBody>
      </p:sp>
      <p:sp>
        <p:nvSpPr>
          <p:cNvPr id="18" name="Text SimpleVox：MFCC / DTW照合">
            <a:extLst xmlns:a="http://schemas.openxmlformats.org/drawingml/2006/main">
              <a:ext uri="{FF2B5EF4-FFF2-40B4-BE49-F238E27FC236}">
                <a16:creationId xmlns:a16="http://schemas.microsoft.com/office/drawing/2014/main" id="{4ECE678B-F1FF-B574-9CC8-045156E1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2946425"/>
            <a:ext cx="2059859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SimpleVox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：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MFCC / DTW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照合</a:t>
            </a:r>
          </a:p>
        </p:txBody>
      </p:sp>
      <p:sp>
        <p:nvSpPr>
          <p:cNvPr id="19" name="Text 3回録音 → 整合確認 → 自動保存">
            <a:extLst xmlns:a="http://schemas.openxmlformats.org/drawingml/2006/main">
              <a:ext uri="{FF2B5EF4-FFF2-40B4-BE49-F238E27FC236}">
                <a16:creationId xmlns:a16="http://schemas.microsoft.com/office/drawing/2014/main" id="{EBB92F96-942F-CCC6-2443-72084CCA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3167405"/>
            <a:ext cx="2144818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回録音 → 整合確認 → 自動保存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0" name="Text ● 音声入出力・発話終了判定">
            <a:extLst xmlns:a="http://schemas.openxmlformats.org/drawingml/2006/main">
              <a:ext uri="{FF2B5EF4-FFF2-40B4-BE49-F238E27FC236}">
                <a16:creationId xmlns:a16="http://schemas.microsoft.com/office/drawing/2014/main" id="{801E23E6-0E4A-9947-0725-1CCFAAE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01085"/>
            <a:ext cx="2257028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音声入出力・発話終了判定</a:t>
            </a:r>
          </a:p>
        </p:txBody>
      </p:sp>
      <p:sp>
        <p:nvSpPr>
          <p:cNvPr id="21" name="Text 16 kHz入力 / 24 kHz回答再生">
            <a:extLst xmlns:a="http://schemas.openxmlformats.org/drawingml/2006/main">
              <a:ext uri="{FF2B5EF4-FFF2-40B4-BE49-F238E27FC236}">
                <a16:creationId xmlns:a16="http://schemas.microsoft.com/office/drawing/2014/main" id="{04189AC7-851E-A192-EF91-3B41B903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3769385"/>
            <a:ext cx="1946046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16 kHz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入力 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/ 24 kHz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回答再生</a:t>
            </a:r>
          </a:p>
        </p:txBody>
      </p:sp>
      <p:sp>
        <p:nvSpPr>
          <p:cNvPr id="22" name="Text 開始音後700 msで受付・半二重">
            <a:extLst xmlns:a="http://schemas.openxmlformats.org/drawingml/2006/main">
              <a:ext uri="{FF2B5EF4-FFF2-40B4-BE49-F238E27FC236}">
                <a16:creationId xmlns:a16="http://schemas.microsoft.com/office/drawing/2014/main" id="{3E6CA471-DF38-39CD-CBDF-93222DA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3990365"/>
            <a:ext cx="249555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ビープ終了から700 msで受付・半二重</a:t>
            </a:r>
          </a:p>
        </p:txBody>
      </p:sp>
      <p:sp>
        <p:nvSpPr>
          <p:cNvPr id="23" name="Text ● 通信・設定・永続化">
            <a:extLst xmlns:a="http://schemas.openxmlformats.org/drawingml/2006/main">
              <a:ext uri="{FF2B5EF4-FFF2-40B4-BE49-F238E27FC236}">
                <a16:creationId xmlns:a16="http://schemas.microsoft.com/office/drawing/2014/main" id="{80058AA0-20C8-DC57-CDB1-BB1148A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24045"/>
            <a:ext cx="1747273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通信・設定・永続化</a:t>
            </a:r>
          </a:p>
        </p:txBody>
      </p:sp>
      <p:sp>
        <p:nvSpPr>
          <p:cNvPr id="24" name="Text Wi-Fi / WebSocket / USB制御">
            <a:extLst xmlns:a="http://schemas.openxmlformats.org/drawingml/2006/main">
              <a:ext uri="{FF2B5EF4-FFF2-40B4-BE49-F238E27FC236}">
                <a16:creationId xmlns:a16="http://schemas.microsoft.com/office/drawing/2014/main" id="{319F664E-C8AC-D960-8DCC-B7100BC2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4592345"/>
            <a:ext cx="2306637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WiFiManager / Wi-Fi / WebSocket</a:t>
            </a:r>
          </a:p>
        </p:txBody>
      </p:sp>
      <p:sp>
        <p:nvSpPr>
          <p:cNvPr id="25" name="Text SPIFFS：設定・呼びかけ特徴">
            <a:extLst xmlns:a="http://schemas.openxmlformats.org/drawingml/2006/main">
              <a:ext uri="{FF2B5EF4-FFF2-40B4-BE49-F238E27FC236}">
                <a16:creationId xmlns:a16="http://schemas.microsoft.com/office/drawing/2014/main" id="{97A916D4-BA91-A2AC-78F5-ACEE047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4813326"/>
            <a:ext cx="216693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設定・呼びかけ特徴を端末に保持</a:t>
            </a:r>
          </a:p>
        </p:txBody>
      </p:sp>
      <p:sp>
        <p:nvSpPr>
          <p:cNvPr id="26" name="Text Windows 10/11 x64 / Python +">
            <a:extLst xmlns:a="http://schemas.openxmlformats.org/drawingml/2006/main">
              <a:ext uri="{FF2B5EF4-FFF2-40B4-BE49-F238E27FC236}">
                <a16:creationId xmlns:a16="http://schemas.microsoft.com/office/drawing/2014/main" id="{F2B7157A-1D28-0542-01AD-D6116A0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1781632"/>
            <a:ext cx="2367636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Windows 10/11 x64 / Python + Node.js</a:t>
            </a:r>
            <a:endParaRPr sz="1020">
              <a:solidFill>
                <a:srgbClr val="52657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Text ● 配布ホストGUI（EXE）">
            <a:extLst xmlns:a="http://schemas.openxmlformats.org/drawingml/2006/main">
              <a:ext uri="{FF2B5EF4-FFF2-40B4-BE49-F238E27FC236}">
                <a16:creationId xmlns:a16="http://schemas.microsoft.com/office/drawing/2014/main" id="{29C704F0-1544-3B5D-FBBA-D0CD8685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2076145"/>
            <a:ext cx="2055050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配布ホスト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GUI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（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EXE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28" name="Text COM・LAN・APIキー / 起動・停止">
            <a:extLst xmlns:a="http://schemas.openxmlformats.org/drawingml/2006/main">
              <a:ext uri="{FF2B5EF4-FFF2-40B4-BE49-F238E27FC236}">
                <a16:creationId xmlns:a16="http://schemas.microsoft.com/office/drawing/2014/main" id="{C99DD04B-0E11-E9BD-DD22-905086F1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44445"/>
            <a:ext cx="2551113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ホットスポット・APIキー / 起動・停止</a:t>
            </a:r>
          </a:p>
        </p:txBody>
      </p:sp>
      <p:sp>
        <p:nvSpPr>
          <p:cNvPr id="29" name="Text 任意でキーをDPAPI暗号化保存">
            <a:extLst xmlns:a="http://schemas.openxmlformats.org/drawingml/2006/main">
              <a:ext uri="{FF2B5EF4-FFF2-40B4-BE49-F238E27FC236}">
                <a16:creationId xmlns:a16="http://schemas.microsoft.com/office/drawing/2014/main" id="{717C133C-1830-28CC-B3BA-7DD04B2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65425"/>
            <a:ext cx="2043829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任意でキーを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DPAPI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暗号化保存</a:t>
            </a:r>
          </a:p>
        </p:txBody>
      </p:sp>
      <p:sp>
        <p:nvSpPr>
          <p:cNvPr id="30" name="Text ● USBセッション管理">
            <a:extLst xmlns:a="http://schemas.openxmlformats.org/drawingml/2006/main">
              <a:ext uri="{FF2B5EF4-FFF2-40B4-BE49-F238E27FC236}">
                <a16:creationId xmlns:a16="http://schemas.microsoft.com/office/drawing/2014/main" id="{82BF4BA4-2803-8FF0-F98F-351A1CA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2899105"/>
            <a:ext cx="223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ホットスポット接続の信頼</a:t>
            </a:r>
          </a:p>
        </p:txBody>
      </p:sp>
      <p:sp>
        <p:nvSpPr>
          <p:cNvPr id="31" name="Text 接続先・認証トークンを端末RAMへ">
            <a:extLst xmlns:a="http://schemas.openxmlformats.org/drawingml/2006/main">
              <a:ext uri="{FF2B5EF4-FFF2-40B4-BE49-F238E27FC236}">
                <a16:creationId xmlns:a16="http://schemas.microsoft.com/office/drawing/2014/main" id="{A7CAE262-C014-4FD6-BDFC-C9AC047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67405"/>
            <a:ext cx="2155825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参加済み端末をサブネットで限定</a:t>
            </a:r>
          </a:p>
        </p:txBody>
      </p:sp>
      <p:sp>
        <p:nvSpPr>
          <p:cNvPr id="32" name="Text 状態照会・稼働通知・終了診断">
            <a:extLst xmlns:a="http://schemas.openxmlformats.org/drawingml/2006/main">
              <a:ext uri="{FF2B5EF4-FFF2-40B4-BE49-F238E27FC236}">
                <a16:creationId xmlns:a16="http://schemas.microsoft.com/office/drawing/2014/main" id="{843C1C32-4A22-0E6B-62F5-6D991195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88385"/>
            <a:ext cx="2016125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ホットスポット側IPだけで待受</a:t>
            </a:r>
          </a:p>
        </p:txBody>
      </p:sp>
      <p:sp>
        <p:nvSpPr>
          <p:cNvPr id="33" name="Text ● Gemini中継サーバー">
            <a:extLst xmlns:a="http://schemas.openxmlformats.org/drawingml/2006/main">
              <a:ext uri="{FF2B5EF4-FFF2-40B4-BE49-F238E27FC236}">
                <a16:creationId xmlns:a16="http://schemas.microsoft.com/office/drawing/2014/main" id="{4C48A0D0-22AA-9BCE-BD78-791370B2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3722065"/>
            <a:ext cx="1821011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Gemini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中継サーバー</a:t>
            </a:r>
          </a:p>
        </p:txBody>
      </p:sp>
      <p:sp>
        <p:nvSpPr>
          <p:cNvPr id="34" name="Text TypeScript / Express / ws">
            <a:extLst xmlns:a="http://schemas.openxmlformats.org/drawingml/2006/main">
              <a:ext uri="{FF2B5EF4-FFF2-40B4-BE49-F238E27FC236}">
                <a16:creationId xmlns:a16="http://schemas.microsoft.com/office/drawing/2014/main" id="{6A5EE352-05EC-1ACD-9777-D7F2B29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90365"/>
            <a:ext cx="1748877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TypeScript / Express / ws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Text 認証・PCM転送・期限 / 上限管理">
            <a:extLst xmlns:a="http://schemas.openxmlformats.org/drawingml/2006/main">
              <a:ext uri="{FF2B5EF4-FFF2-40B4-BE49-F238E27FC236}">
                <a16:creationId xmlns:a16="http://schemas.microsoft.com/office/drawing/2014/main" id="{7575458A-3736-AD18-A753-1BFF8C7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11345"/>
            <a:ext cx="235743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PCM転送・期限 / 上限・エラー分類</a:t>
            </a:r>
          </a:p>
        </p:txBody>
      </p:sp>
      <p:sp>
        <p:nvSpPr>
          <p:cNvPr id="36" name="Text Gemini SDK・分離worker">
            <a:extLst xmlns:a="http://schemas.openxmlformats.org/drawingml/2006/main">
              <a:ext uri="{FF2B5EF4-FFF2-40B4-BE49-F238E27FC236}">
                <a16:creationId xmlns:a16="http://schemas.microsoft.com/office/drawing/2014/main" id="{72A69AB4-AED1-0FC1-6046-0473CD2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32326"/>
            <a:ext cx="1716817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Gemini SDK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・分離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worker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7" name="Text EXE自己診断8項目成功 / 別PC会話は未確認">
            <a:extLst xmlns:a="http://schemas.openxmlformats.org/drawingml/2006/main">
              <a:ext uri="{FF2B5EF4-FFF2-40B4-BE49-F238E27FC236}">
                <a16:creationId xmlns:a16="http://schemas.microsoft.com/office/drawing/2014/main" id="{E544770E-77A6-F6D1-5F6D-075BC07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4806772"/>
            <a:ext cx="2733675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呼びかけ・音声・口パク・リセット復帰を確認</a:t>
            </a:r>
          </a:p>
        </p:txBody>
      </p:sp>
      <p:sp>
        <p:nvSpPr>
          <p:cNvPr id="38" name="Text Google Gemini Live API">
            <a:extLst xmlns:a="http://schemas.openxmlformats.org/drawingml/2006/main">
              <a:ext uri="{FF2B5EF4-FFF2-40B4-BE49-F238E27FC236}">
                <a16:creationId xmlns:a16="http://schemas.microsoft.com/office/drawing/2014/main" id="{4436F833-4E49-9634-1682-D2A12CD8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81632"/>
            <a:ext cx="1415452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Google Gemini Live API</a:t>
            </a:r>
            <a:endParaRPr sz="1020">
              <a:solidFill>
                <a:srgbClr val="52657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9" name="Text ● 音声質問の理解・回答生成">
            <a:extLst xmlns:a="http://schemas.openxmlformats.org/drawingml/2006/main">
              <a:ext uri="{FF2B5EF4-FFF2-40B4-BE49-F238E27FC236}">
                <a16:creationId xmlns:a16="http://schemas.microsoft.com/office/drawing/2014/main" id="{BA9E307E-A107-A9CB-0B28-FA505927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145"/>
            <a:ext cx="2257028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音声質問の理解・回答生成</a:t>
            </a:r>
          </a:p>
        </p:txBody>
      </p:sp>
      <p:sp>
        <p:nvSpPr>
          <p:cNvPr id="40" name="Text 16 kHz / 16-bit / mono PCM入力">
            <a:extLst xmlns:a="http://schemas.openxmlformats.org/drawingml/2006/main">
              <a:ext uri="{FF2B5EF4-FFF2-40B4-BE49-F238E27FC236}">
                <a16:creationId xmlns:a16="http://schemas.microsoft.com/office/drawing/2014/main" id="{1C49FFD3-FFFC-2E07-FC6C-D8F947B3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4445"/>
            <a:ext cx="2207336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16 kHz / 16-bit / mono PCM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41" name="Text 24 kHz PCM音声回答">
            <a:extLst xmlns:a="http://schemas.openxmlformats.org/drawingml/2006/main">
              <a:ext uri="{FF2B5EF4-FFF2-40B4-BE49-F238E27FC236}">
                <a16:creationId xmlns:a16="http://schemas.microsoft.com/office/drawing/2014/main" id="{142601B9-9927-6CFB-8712-A2248BA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65425"/>
            <a:ext cx="1413849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24 kHz PCM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音声回答</a:t>
            </a:r>
          </a:p>
        </p:txBody>
      </p:sp>
      <p:sp>
        <p:nvSpPr>
          <p:cNvPr id="42" name="Text ● ホスト側のAPIキーで接続">
            <a:extLst xmlns:a="http://schemas.openxmlformats.org/drawingml/2006/main">
              <a:ext uri="{FF2B5EF4-FFF2-40B4-BE49-F238E27FC236}">
                <a16:creationId xmlns:a16="http://schemas.microsoft.com/office/drawing/2014/main" id="{E94831DE-511D-66B1-36B3-35DB6F5A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9105"/>
            <a:ext cx="2189702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ホスト側の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API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キーで接続</a:t>
            </a:r>
          </a:p>
        </p:txBody>
      </p:sp>
      <p:sp>
        <p:nvSpPr>
          <p:cNvPr id="43" name="Text @google/genai SDK">
            <a:extLst xmlns:a="http://schemas.openxmlformats.org/drawingml/2006/main">
              <a:ext uri="{FF2B5EF4-FFF2-40B4-BE49-F238E27FC236}">
                <a16:creationId xmlns:a16="http://schemas.microsoft.com/office/drawing/2014/main" id="{EA45A51A-4AF4-6363-745D-FD6ED1D2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7405"/>
            <a:ext cx="1351332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@google/genai SDK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4" name="Text 登録音声・呼びかけは送信しない">
            <a:extLst xmlns:a="http://schemas.openxmlformats.org/drawingml/2006/main">
              <a:ext uri="{FF2B5EF4-FFF2-40B4-BE49-F238E27FC236}">
                <a16:creationId xmlns:a16="http://schemas.microsoft.com/office/drawing/2014/main" id="{91B8F6A4-5921-EB4A-0A7C-9B1F17C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88385"/>
            <a:ext cx="2188100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登録音声・呼びかけは送信しない</a:t>
            </a:r>
          </a:p>
        </p:txBody>
      </p:sp>
      <p:sp>
        <p:nvSpPr>
          <p:cNvPr id="45" name="直線コネクタ 44">
            <a:extLst xmlns:a="http://schemas.openxmlformats.org/drawingml/2006/main">
              <a:ext uri="{FF2B5EF4-FFF2-40B4-BE49-F238E27FC236}">
                <a16:creationId xmlns:a16="http://schemas.microsoft.com/office/drawing/2014/main" id="{B6594C22-1F1D-426C-A7B2-A75B5ED2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6660"/>
            <a:ext cx="31623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1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 ◇ 会話履歴・複数ターン">
            <a:extLst xmlns:a="http://schemas.openxmlformats.org/drawingml/2006/main">
              <a:ext uri="{FF2B5EF4-FFF2-40B4-BE49-F238E27FC236}">
                <a16:creationId xmlns:a16="http://schemas.microsoft.com/office/drawing/2014/main" id="{D56A99D3-672A-F1BC-F763-43F18A9B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2085"/>
            <a:ext cx="1917192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◇ 会話履歴・複数ターン</a:t>
            </a:r>
          </a:p>
        </p:txBody>
      </p:sp>
      <p:sp>
        <p:nvSpPr>
          <p:cNvPr id="47" name="Text 現在は1質問1回答">
            <a:extLst xmlns:a="http://schemas.openxmlformats.org/drawingml/2006/main">
              <a:ext uri="{FF2B5EF4-FFF2-40B4-BE49-F238E27FC236}">
                <a16:creationId xmlns:a16="http://schemas.microsoft.com/office/drawing/2014/main" id="{1EA87967-D0EA-F06B-7113-6485F2F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50385"/>
            <a:ext cx="1184620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現在は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質問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回答</a:t>
            </a:r>
          </a:p>
        </p:txBody>
      </p:sp>
      <p:sp>
        <p:nvSpPr>
          <p:cNvPr id="48" name="Text ⏸ クラウド中継への移行">
            <a:extLst xmlns:a="http://schemas.openxmlformats.org/drawingml/2006/main">
              <a:ext uri="{FF2B5EF4-FFF2-40B4-BE49-F238E27FC236}">
                <a16:creationId xmlns:a16="http://schemas.microsoft.com/office/drawing/2014/main" id="{85FA1BFA-1A6E-3702-A018-489DF70B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84065"/>
            <a:ext cx="17589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◇ Raspberry Piホスト</a:t>
            </a:r>
          </a:p>
        </p:txBody>
      </p:sp>
      <p:sp>
        <p:nvSpPr>
          <p:cNvPr id="49" name="Text AI Studio / Cloud Run：公開保留">
            <a:extLst xmlns:a="http://schemas.openxmlformats.org/drawingml/2006/main">
              <a:ext uri="{FF2B5EF4-FFF2-40B4-BE49-F238E27FC236}">
                <a16:creationId xmlns:a16="http://schemas.microsoft.com/office/drawing/2014/main" id="{AC8A93F6-D501-963C-58A4-E354F75E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52365"/>
            <a:ext cx="2074863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将来候補 / AP・常駐化は未実装</a:t>
            </a:r>
          </a:p>
        </p:txBody>
      </p:sp>
      <p:sp>
        <p:nvSpPr>
          <p:cNvPr id="50" name="直線コネクタ 49">
            <a:extLst xmlns:a="http://schemas.openxmlformats.org/drawingml/2006/main">
              <a:ext uri="{FF2B5EF4-FFF2-40B4-BE49-F238E27FC236}">
                <a16:creationId xmlns:a16="http://schemas.microsoft.com/office/drawing/2014/main" id="{1B00D6FE-2A8E-4D86-A2E9-7020AE65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2160"/>
            <a:ext cx="32766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1686A3"/>
            </a:solidFill>
            <a:headEnd type="triangl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直線コネクタ 50">
            <a:extLst xmlns:a="http://schemas.openxmlformats.org/drawingml/2006/main">
              <a:ext uri="{FF2B5EF4-FFF2-40B4-BE49-F238E27FC236}">
                <a16:creationId xmlns:a16="http://schemas.microsoft.com/office/drawing/2014/main" id="{23FC19AB-B710-4829-8B87-E5127491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042160"/>
            <a:ext cx="32766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1686A3"/>
            </a:solidFill>
            <a:headEnd type="triangl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正方形/長方形 51">
            <a:extLst xmlns:a="http://schemas.openxmlformats.org/drawingml/2006/main">
              <a:ext uri="{FF2B5EF4-FFF2-40B4-BE49-F238E27FC236}">
                <a16:creationId xmlns:a16="http://schemas.microsoft.com/office/drawing/2014/main" id="{25944354-F586-C124-6429-DDBC5F6F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8320"/>
            <a:ext cx="741426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5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 端末 ⇄ PC　① USB CDC / シリアル 115">
            <a:extLst xmlns:a="http://schemas.openxmlformats.org/drawingml/2006/main">
              <a:ext uri="{FF2B5EF4-FFF2-40B4-BE49-F238E27FC236}">
                <a16:creationId xmlns:a16="http://schemas.microsoft.com/office/drawing/2014/main" id="{8862AD7C-13D2-8630-2AB7-7C9B0B73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0692"/>
            <a:ext cx="345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端末 ⇄ PC　2.4 GHzホットスポット / HTTP・WS :48443</a:t>
            </a:r>
          </a:p>
        </p:txBody>
      </p:sp>
      <p:sp>
        <p:nvSpPr>
          <p:cNvPr id="54" name="Text 　　　　　 ② 家庭内LAN / 平文WebSocket">
            <a:extLst xmlns:a="http://schemas.openxmlformats.org/drawingml/2006/main">
              <a:ext uri="{FF2B5EF4-FFF2-40B4-BE49-F238E27FC236}">
                <a16:creationId xmlns:a16="http://schemas.microsoft.com/office/drawing/2014/main" id="{7E785AD1-F5E6-758C-5886-486CC0C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6912"/>
            <a:ext cx="4008437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Wi-Fiパスワードで参加確認 / コード入力不要 / 通常利用はUSB不要</a:t>
            </a:r>
          </a:p>
        </p:txBody>
      </p:sp>
      <p:sp>
        <p:nvSpPr>
          <p:cNvPr id="55" name="正方形/長方形 54">
            <a:extLst xmlns:a="http://schemas.openxmlformats.org/drawingml/2006/main">
              <a:ext uri="{FF2B5EF4-FFF2-40B4-BE49-F238E27FC236}">
                <a16:creationId xmlns:a16="http://schemas.microsoft.com/office/drawing/2014/main" id="{B1295A1A-65E3-ABFF-52B0-44A3269F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5608320"/>
            <a:ext cx="371856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7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 PC ⇄ クラウド　Gemini Live / WSS">
            <a:extLst xmlns:a="http://schemas.openxmlformats.org/drawingml/2006/main">
              <a:ext uri="{FF2B5EF4-FFF2-40B4-BE49-F238E27FC236}">
                <a16:creationId xmlns:a16="http://schemas.microsoft.com/office/drawing/2014/main" id="{03C85C7A-1330-181D-FCC6-4595BF67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260" y="5690692"/>
            <a:ext cx="2232984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PC ⇄ </a:t>
            </a:r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クラウド　</a:t>
            </a:r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Gemini Live / WSS</a:t>
            </a:r>
            <a:endParaRPr sz="1020" b="1">
              <a:solidFill>
                <a:srgbClr val="176B84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7" name="Text SDK経由で質問送信・音声回答受信">
            <a:extLst xmlns:a="http://schemas.openxmlformats.org/drawingml/2006/main">
              <a:ext uri="{FF2B5EF4-FFF2-40B4-BE49-F238E27FC236}">
                <a16:creationId xmlns:a16="http://schemas.microsoft.com/office/drawing/2014/main" id="{50E9F98C-A507-7EAD-5404-1124729A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260" y="5926912"/>
            <a:ext cx="2109552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SDK</a:t>
            </a:r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経由で質問送信・音声回答受信</a:t>
            </a:r>
          </a:p>
        </p:txBody>
      </p:sp>
      <p:sp>
        <p:nvSpPr>
          <p:cNvPr id="58" name="Text 残課題：長期精度・電源断耐性・切断復帰・配布EXE再生成">
            <a:extLst xmlns:a="http://schemas.openxmlformats.org/drawingml/2006/main">
              <a:ext uri="{FF2B5EF4-FFF2-40B4-BE49-F238E27FC236}">
                <a16:creationId xmlns:a16="http://schemas.microsoft.com/office/drawing/2014/main" id="{7B051ADA-8CCC-5BF6-03EF-53F1DFF3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6492"/>
            <a:ext cx="5126037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残課題：長期精度・電源断耐性・別PC試験・連続ストリーミング / クラウド公開は保留</a:t>
            </a:r>
          </a:p>
        </p:txBody>
      </p:sp>
      <p:sp>
        <p:nvSpPr>
          <p:cNvPr id="59" name="Text 確認済み資料：WAKE_STAGE3_R07 / GIT">
            <a:extLst xmlns:a="http://schemas.openxmlformats.org/drawingml/2006/main">
              <a:ext uri="{FF2B5EF4-FFF2-40B4-BE49-F238E27FC236}">
                <a16:creationId xmlns:a16="http://schemas.microsoft.com/office/drawing/2014/main" id="{B2DA8553-BA7C-4484-4394-AB0B05CB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06692"/>
            <a:ext cx="5029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40">
                <a:solidFill>
                  <a:srgbClr val="77869A"/>
                </a:solidFill>
                <a:latin typeface="Yu Gothic"/>
                <a:ea typeface="Yu Gothic"/>
                <a:cs typeface="Yu Gothic"/>
              </a:rPr>
              <a:t>現行資料：RESUME / HOTSPOT_TRUST / desktop README.ja　※USB診断・従来の端末単体版は省略</a:t>
            </a:r>
          </a:p>
        </p:txBody>
      </p:sp>
    </p:spTree>
    <p:extLst>
      <p:ext uri="{BB962C8B-B14F-4D97-AF65-F5344CB8AC3E}">
        <p14:creationId xmlns:p14="http://schemas.microsoft.com/office/powerpoint/2010/main" val="2949269567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2026-10-20T16:21:19.3180000Z</dcterms:created>
  <dcterms:modified xsi:type="dcterms:W3CDTF">2026-10-20T16:21:19.3180000Z</dcterms:modified>
</coreProperties>
</file>