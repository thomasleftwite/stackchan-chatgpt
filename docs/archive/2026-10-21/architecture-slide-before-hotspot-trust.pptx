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A4455C-621A-389B-A2B6-9B7A75AC9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E10226-AD4E-E8BA-4FD4-A9E6AAC28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9784DF-76AE-D0FC-734C-1BEC336A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F0C83E-90ED-90DE-2E6D-0325EB57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37B298-4564-0475-3E7F-FABE379F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40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6188DE-F2DF-69FD-8E3C-48D87A5D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13A082-441C-5AC1-41E3-2B5333260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80CDF7-F5E4-4A43-50FF-716CAFE6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B165C4-85B4-A2CF-0E24-BE20F046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1C718D-38FC-709A-4C4C-AA88981B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40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BFB55-C779-E83A-201C-D8BE05EA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EF7A68-E248-5C96-9CFD-55846F637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5A6A2C-2F8B-D2F1-B8CA-BDA9F20F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742C13-D7B1-A136-82C1-8FE30EC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D45B2A-621E-A7C2-C888-BEA4E7DE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78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F82C6D-0F7E-F8EF-B26C-6E13DFAB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E63487-F302-3607-9295-E21B74C90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D4CBB6-2806-3FA2-3E4A-B9B0A1CA9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1F1623-60E3-9C63-AFC6-5FA578F7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144850-548B-7B12-CC45-A20E40BA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11F3A5-AF3C-CC7E-F34A-5E0E6366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85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B204D-7EAE-C5F8-2451-FCA52DB9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5993A7-8137-7F33-B16D-C3F933F98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1EC5D9-03B2-9CCD-371D-D30EC47E4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9F500B-74F4-3664-8218-D2430B016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F79013A-A48D-541D-5AD5-A78A125DE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128A3A-42C4-0CE5-F5E8-8EDDED28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D0381E-849F-3D80-52C0-31A75E2A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17CB427-E43D-2544-25B9-8E27254E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90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1E37D4-B5E3-6D42-26EA-E6401E02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D6E7BF-D10D-3333-A4CF-5638FC054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3C4CE8-2056-0F7E-66A7-AAC7F246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196250-C9A6-B4B7-F843-82027072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83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936BB2-3BEE-31B1-C86A-F5FA9A9A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E26904B-F45D-00A9-D088-AB5C881C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7AC750-DE17-5DE6-7842-8B381EB2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2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78CE6-A1D0-7C2B-DEDA-A29CC4B7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71C2F2-AC79-F8A0-6486-137869F96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70A148-65C0-4B0E-4A13-9A6827172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C7297E-D3B0-F9D7-5743-A363A5A7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67EA66-3915-F533-38EB-9AA1156C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D84176-66BC-BE47-D62F-F4DC7620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107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22334E-5540-F97B-77B1-081ADED9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0F60A4-B254-6EA1-7306-52C1BEFE4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1CBEB9-087B-1DD1-D085-91291506A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EC493F-3613-26AD-9A26-0A0FF8B4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B56A89-03D4-BA96-07DC-8246D028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393BF6-1C79-E256-CECD-CF600F1F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20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11310-E405-E334-2D1B-097E5184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DFFA3A-76A1-D22F-8025-C8AD53843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8D98B2-8349-A944-4BC4-B782C51A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AA4F47-2907-033C-FE6A-AAA976D1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07FE94-7922-9CD7-F469-605F4DE8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55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B7675E-8EE1-E161-E858-B792D1CA4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B3A5C5-F87B-C2C1-0F52-51DADFCC1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4E2DE7-1400-557C-A7FC-BC1E0469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5D4EFD-7834-D081-7443-B4E60273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D46ADD-CF7D-FA31-CF62-15A6A869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98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C4D2B2-091E-D192-9BB2-C2B00FE0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02EED-33E1-C157-A7B2-94893B76E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13B3D8-D77F-6D6C-10DA-AB28C2A24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982A2-9F13-4839-93DA-D4A694E043F5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81FD84-5B9F-1CDA-2804-07484A8FB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9D5B8-8B17-C1EE-D13E-234F7387E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5A50-D7E9-4F05-9FDD-ED8D72A7B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14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81D471-28A6-E68E-65DF-A5E60A40C6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Text Stackchan 音声対話システム｜構成と接続">
            <a:extLst>
              <a:ext uri="{FF2B5EF4-FFF2-40B4-BE49-F238E27FC236}">
                <a16:creationId xmlns:a16="http://schemas.microsoft.com/office/drawing/2014/main" id="{F86AE139-2107-5171-0CBB-6CBBC43656CD}"/>
              </a:ext>
            </a:extLst>
          </p:cNvPr>
          <p:cNvSpPr txBox="1"/>
          <p:nvPr/>
        </p:nvSpPr>
        <p:spPr>
          <a:xfrm>
            <a:off x="457200" y="215951"/>
            <a:ext cx="5663410" cy="3508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228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Stackchan </a:t>
            </a:r>
            <a:r>
              <a:rPr kumimoji="1" lang="ja-JP" altLang="en-US" sz="228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音声対話システム｜構成と接続</a:t>
            </a:r>
          </a:p>
        </p:txBody>
      </p:sp>
      <p:sp>
        <p:nvSpPr>
          <p:cNvPr id="4" name="Text 現在の開発対象：PC中継版 / Stage3 R07　　">
            <a:extLst>
              <a:ext uri="{FF2B5EF4-FFF2-40B4-BE49-F238E27FC236}">
                <a16:creationId xmlns:a16="http://schemas.microsoft.com/office/drawing/2014/main" id="{C09DD883-3E01-92E9-5C60-F12B8B620094}"/>
              </a:ext>
            </a:extLst>
          </p:cNvPr>
          <p:cNvSpPr txBox="1"/>
          <p:nvPr/>
        </p:nvSpPr>
        <p:spPr>
          <a:xfrm>
            <a:off x="457200" y="668045"/>
            <a:ext cx="6727804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現在の開発対象：</a:t>
            </a:r>
            <a:r>
              <a:rPr kumimoji="1" lang="en-US" altLang="ja-JP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中継版 </a:t>
            </a:r>
            <a:r>
              <a:rPr kumimoji="1" lang="en-US" altLang="ja-JP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Stage3 R07</a:t>
            </a:r>
            <a:r>
              <a:rPr kumimoji="1" lang="ja-JP" altLang="en-US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　</a:t>
            </a:r>
            <a:r>
              <a:rPr kumimoji="1" lang="en-US" altLang="ja-JP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2026.10.20</a:t>
            </a:r>
            <a:r>
              <a:rPr kumimoji="1" lang="ja-JP" altLang="en-US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　● 実装済み　 ◇ 今後・未検証　 </a:t>
            </a:r>
            <a:r>
              <a:rPr kumimoji="1" lang="en-US" altLang="ja-JP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⏸ </a:t>
            </a:r>
            <a:r>
              <a:rPr kumimoji="1" lang="ja-JP" altLang="en-US" sz="1140">
                <a:solidFill>
                  <a:srgbClr val="596B8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保留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CD112A-1501-1BC1-8465-AFD076A03ADD}"/>
              </a:ext>
            </a:extLst>
          </p:cNvPr>
          <p:cNvSpPr/>
          <p:nvPr/>
        </p:nvSpPr>
        <p:spPr>
          <a:xfrm>
            <a:off x="457200" y="1143000"/>
            <a:ext cx="3543300" cy="4305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E0E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E7864E-CF66-4338-8667-59316ACC1F87}"/>
              </a:ext>
            </a:extLst>
          </p:cNvPr>
          <p:cNvSpPr/>
          <p:nvPr/>
        </p:nvSpPr>
        <p:spPr>
          <a:xfrm>
            <a:off x="4328160" y="1143000"/>
            <a:ext cx="3543300" cy="4305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E0E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6A9EAF-1448-AD0D-D056-3C772DC8FC40}"/>
              </a:ext>
            </a:extLst>
          </p:cNvPr>
          <p:cNvSpPr/>
          <p:nvPr/>
        </p:nvSpPr>
        <p:spPr>
          <a:xfrm>
            <a:off x="8199120" y="1143000"/>
            <a:ext cx="3543300" cy="4305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5E0E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61CED4-03AF-37DC-C999-ED3691940891}"/>
              </a:ext>
            </a:extLst>
          </p:cNvPr>
          <p:cNvSpPr/>
          <p:nvPr/>
        </p:nvSpPr>
        <p:spPr>
          <a:xfrm>
            <a:off x="457200" y="1143000"/>
            <a:ext cx="3543300" cy="518160"/>
          </a:xfrm>
          <a:prstGeom prst="rect">
            <a:avLst/>
          </a:prstGeom>
          <a:solidFill>
            <a:srgbClr val="166C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E0E878-8BCF-8BC2-FB46-21C653F01CE6}"/>
              </a:ext>
            </a:extLst>
          </p:cNvPr>
          <p:cNvSpPr/>
          <p:nvPr/>
        </p:nvSpPr>
        <p:spPr>
          <a:xfrm>
            <a:off x="4328160" y="1143000"/>
            <a:ext cx="3543300" cy="518160"/>
          </a:xfrm>
          <a:prstGeom prst="rect">
            <a:avLst/>
          </a:prstGeom>
          <a:solidFill>
            <a:srgbClr val="27568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F2FEE76-58A1-B4F6-98A5-DED2E602B972}"/>
              </a:ext>
            </a:extLst>
          </p:cNvPr>
          <p:cNvSpPr/>
          <p:nvPr/>
        </p:nvSpPr>
        <p:spPr>
          <a:xfrm>
            <a:off x="8199120" y="1143000"/>
            <a:ext cx="3543300" cy="518160"/>
          </a:xfrm>
          <a:prstGeom prst="rect">
            <a:avLst/>
          </a:prstGeom>
          <a:solidFill>
            <a:srgbClr val="685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 1　端末デバイス">
            <a:extLst>
              <a:ext uri="{FF2B5EF4-FFF2-40B4-BE49-F238E27FC236}">
                <a16:creationId xmlns:a16="http://schemas.microsoft.com/office/drawing/2014/main" id="{C54A8D9F-EDE6-7AA3-A153-3A428694E63F}"/>
              </a:ext>
            </a:extLst>
          </p:cNvPr>
          <p:cNvSpPr txBox="1"/>
          <p:nvPr/>
        </p:nvSpPr>
        <p:spPr>
          <a:xfrm>
            <a:off x="640080" y="1251052"/>
            <a:ext cx="1513235" cy="2400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端末デバイス</a:t>
            </a:r>
          </a:p>
        </p:txBody>
      </p:sp>
      <p:sp>
        <p:nvSpPr>
          <p:cNvPr id="12" name="Text 2　ホストPC">
            <a:extLst>
              <a:ext uri="{FF2B5EF4-FFF2-40B4-BE49-F238E27FC236}">
                <a16:creationId xmlns:a16="http://schemas.microsoft.com/office/drawing/2014/main" id="{29639FFD-3614-0D4D-728F-EF4C68F38D56}"/>
              </a:ext>
            </a:extLst>
          </p:cNvPr>
          <p:cNvSpPr txBox="1"/>
          <p:nvPr/>
        </p:nvSpPr>
        <p:spPr>
          <a:xfrm>
            <a:off x="4511040" y="1251052"/>
            <a:ext cx="1199046" cy="2400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ホスト</a:t>
            </a:r>
            <a:r>
              <a:rPr kumimoji="1" lang="en-US" altLang="ja-JP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endParaRPr kumimoji="1" lang="ja-JP" altLang="en-US" sz="156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Text 3　クラウドサービス">
            <a:extLst>
              <a:ext uri="{FF2B5EF4-FFF2-40B4-BE49-F238E27FC236}">
                <a16:creationId xmlns:a16="http://schemas.microsoft.com/office/drawing/2014/main" id="{ED02D458-91C2-1F5D-4DFD-A2CDAB8B7B37}"/>
              </a:ext>
            </a:extLst>
          </p:cNvPr>
          <p:cNvSpPr txBox="1"/>
          <p:nvPr/>
        </p:nvSpPr>
        <p:spPr>
          <a:xfrm>
            <a:off x="8382000" y="1251052"/>
            <a:ext cx="1913985" cy="2400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156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クラウドサービス</a:t>
            </a:r>
          </a:p>
        </p:txBody>
      </p:sp>
      <p:sp>
        <p:nvSpPr>
          <p:cNvPr id="14" name="Text AtomS3R + Atomic Voice Base ">
            <a:extLst>
              <a:ext uri="{FF2B5EF4-FFF2-40B4-BE49-F238E27FC236}">
                <a16:creationId xmlns:a16="http://schemas.microsoft.com/office/drawing/2014/main" id="{B44D5BA0-167F-D6B9-C375-7ACB005CD6DE}"/>
              </a:ext>
            </a:extLst>
          </p:cNvPr>
          <p:cNvSpPr txBox="1"/>
          <p:nvPr/>
        </p:nvSpPr>
        <p:spPr>
          <a:xfrm>
            <a:off x="640080" y="1781632"/>
            <a:ext cx="2271456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AtomS3R + Atomic Voice Base / C++</a:t>
            </a:r>
            <a:endParaRPr kumimoji="1" lang="ja-JP" altLang="en-US" sz="1020">
              <a:solidFill>
                <a:srgbClr val="52657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Text ● 顔表示・操作・状態管理">
            <a:extLst>
              <a:ext uri="{FF2B5EF4-FFF2-40B4-BE49-F238E27FC236}">
                <a16:creationId xmlns:a16="http://schemas.microsoft.com/office/drawing/2014/main" id="{643D563D-87CE-30A1-3603-3DA3726C4086}"/>
              </a:ext>
            </a:extLst>
          </p:cNvPr>
          <p:cNvSpPr txBox="1"/>
          <p:nvPr/>
        </p:nvSpPr>
        <p:spPr>
          <a:xfrm>
            <a:off x="640080" y="2076145"/>
            <a:ext cx="2087110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顔表示・操作・状態管理</a:t>
            </a:r>
          </a:p>
        </p:txBody>
      </p:sp>
      <p:sp>
        <p:nvSpPr>
          <p:cNvPr id="16" name="Text Sleep / 待受 / 録音 / 再生・口パク">
            <a:extLst>
              <a:ext uri="{FF2B5EF4-FFF2-40B4-BE49-F238E27FC236}">
                <a16:creationId xmlns:a16="http://schemas.microsoft.com/office/drawing/2014/main" id="{2E52B930-4907-07CA-F0C1-68069C982136}"/>
              </a:ext>
            </a:extLst>
          </p:cNvPr>
          <p:cNvSpPr txBox="1"/>
          <p:nvPr/>
        </p:nvSpPr>
        <p:spPr>
          <a:xfrm>
            <a:off x="792480" y="2344445"/>
            <a:ext cx="2298706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Sleep / 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待受 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録音 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再生・口パク</a:t>
            </a:r>
          </a:p>
        </p:txBody>
      </p:sp>
      <p:sp>
        <p:nvSpPr>
          <p:cNvPr id="17" name="Text ● 呼びかけ検出・登録">
            <a:extLst>
              <a:ext uri="{FF2B5EF4-FFF2-40B4-BE49-F238E27FC236}">
                <a16:creationId xmlns:a16="http://schemas.microsoft.com/office/drawing/2014/main" id="{3F239D5D-55C7-8819-47E3-3CA0FC007981}"/>
              </a:ext>
            </a:extLst>
          </p:cNvPr>
          <p:cNvSpPr txBox="1"/>
          <p:nvPr/>
        </p:nvSpPr>
        <p:spPr>
          <a:xfrm>
            <a:off x="640080" y="2678125"/>
            <a:ext cx="1747273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呼びかけ検出・登録</a:t>
            </a:r>
          </a:p>
        </p:txBody>
      </p:sp>
      <p:sp>
        <p:nvSpPr>
          <p:cNvPr id="18" name="Text SimpleVox：MFCC / DTW照合">
            <a:extLst>
              <a:ext uri="{FF2B5EF4-FFF2-40B4-BE49-F238E27FC236}">
                <a16:creationId xmlns:a16="http://schemas.microsoft.com/office/drawing/2014/main" id="{4ECE678B-F1FF-B574-9CC8-045156E1CE3A}"/>
              </a:ext>
            </a:extLst>
          </p:cNvPr>
          <p:cNvSpPr txBox="1"/>
          <p:nvPr/>
        </p:nvSpPr>
        <p:spPr>
          <a:xfrm>
            <a:off x="792480" y="2946425"/>
            <a:ext cx="2059859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SimpleVox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MFCC / DTW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照合</a:t>
            </a:r>
          </a:p>
        </p:txBody>
      </p:sp>
      <p:sp>
        <p:nvSpPr>
          <p:cNvPr id="19" name="Text 3回録音 → 整合確認 → 自動保存">
            <a:extLst>
              <a:ext uri="{FF2B5EF4-FFF2-40B4-BE49-F238E27FC236}">
                <a16:creationId xmlns:a16="http://schemas.microsoft.com/office/drawing/2014/main" id="{EBB92F96-942F-CCC6-2443-72084CCA349C}"/>
              </a:ext>
            </a:extLst>
          </p:cNvPr>
          <p:cNvSpPr txBox="1"/>
          <p:nvPr/>
        </p:nvSpPr>
        <p:spPr>
          <a:xfrm>
            <a:off x="792480" y="3167405"/>
            <a:ext cx="2144818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zh-TW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zh-TW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回録音 → 整合確認 → 自動保存</a:t>
            </a:r>
            <a:endParaRPr kumimoji="1" lang="ja-JP" altLang="en-US" sz="1140">
              <a:solidFill>
                <a:srgbClr val="182B4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Text ● 音声入出力・発話終了判定">
            <a:extLst>
              <a:ext uri="{FF2B5EF4-FFF2-40B4-BE49-F238E27FC236}">
                <a16:creationId xmlns:a16="http://schemas.microsoft.com/office/drawing/2014/main" id="{801E23E6-0E4A-9947-0725-1CCFAAEC31C0}"/>
              </a:ext>
            </a:extLst>
          </p:cNvPr>
          <p:cNvSpPr txBox="1"/>
          <p:nvPr/>
        </p:nvSpPr>
        <p:spPr>
          <a:xfrm>
            <a:off x="640080" y="3501085"/>
            <a:ext cx="2257028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音声入出力・発話終了判定</a:t>
            </a:r>
          </a:p>
        </p:txBody>
      </p:sp>
      <p:sp>
        <p:nvSpPr>
          <p:cNvPr id="21" name="Text 16 kHz入力 / 24 kHz回答再生">
            <a:extLst>
              <a:ext uri="{FF2B5EF4-FFF2-40B4-BE49-F238E27FC236}">
                <a16:creationId xmlns:a16="http://schemas.microsoft.com/office/drawing/2014/main" id="{04189AC7-851E-A192-EF91-3B41B903827A}"/>
              </a:ext>
            </a:extLst>
          </p:cNvPr>
          <p:cNvSpPr txBox="1"/>
          <p:nvPr/>
        </p:nvSpPr>
        <p:spPr>
          <a:xfrm>
            <a:off x="792480" y="3769385"/>
            <a:ext cx="1946046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 kHz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 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24 kHz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回答再生</a:t>
            </a:r>
          </a:p>
        </p:txBody>
      </p:sp>
      <p:sp>
        <p:nvSpPr>
          <p:cNvPr id="22" name="Text 開始音後700 msで受付・半二重">
            <a:extLst>
              <a:ext uri="{FF2B5EF4-FFF2-40B4-BE49-F238E27FC236}">
                <a16:creationId xmlns:a16="http://schemas.microsoft.com/office/drawing/2014/main" id="{3E6CA471-DF38-39CD-CBDF-93222DA5600B}"/>
              </a:ext>
            </a:extLst>
          </p:cNvPr>
          <p:cNvSpPr txBox="1"/>
          <p:nvPr/>
        </p:nvSpPr>
        <p:spPr>
          <a:xfrm>
            <a:off x="792480" y="3990365"/>
            <a:ext cx="2091919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開始音後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700 ms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で受付・半二重</a:t>
            </a:r>
          </a:p>
        </p:txBody>
      </p:sp>
      <p:sp>
        <p:nvSpPr>
          <p:cNvPr id="23" name="Text ● 通信・設定・永続化">
            <a:extLst>
              <a:ext uri="{FF2B5EF4-FFF2-40B4-BE49-F238E27FC236}">
                <a16:creationId xmlns:a16="http://schemas.microsoft.com/office/drawing/2014/main" id="{80058AA0-20C8-DC57-CDB1-BB1148A63E22}"/>
              </a:ext>
            </a:extLst>
          </p:cNvPr>
          <p:cNvSpPr txBox="1"/>
          <p:nvPr/>
        </p:nvSpPr>
        <p:spPr>
          <a:xfrm>
            <a:off x="640080" y="4324045"/>
            <a:ext cx="1747273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通信・設定・永続化</a:t>
            </a:r>
          </a:p>
        </p:txBody>
      </p:sp>
      <p:sp>
        <p:nvSpPr>
          <p:cNvPr id="24" name="Text Wi-Fi / WebSocket / USB制御">
            <a:extLst>
              <a:ext uri="{FF2B5EF4-FFF2-40B4-BE49-F238E27FC236}">
                <a16:creationId xmlns:a16="http://schemas.microsoft.com/office/drawing/2014/main" id="{319F664E-C8AC-D960-8DCC-B7100BC26B25}"/>
              </a:ext>
            </a:extLst>
          </p:cNvPr>
          <p:cNvSpPr txBox="1"/>
          <p:nvPr/>
        </p:nvSpPr>
        <p:spPr>
          <a:xfrm>
            <a:off x="792480" y="4592345"/>
            <a:ext cx="2024593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Wi-Fi / WebSocket / USB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制御</a:t>
            </a:r>
          </a:p>
        </p:txBody>
      </p:sp>
      <p:sp>
        <p:nvSpPr>
          <p:cNvPr id="25" name="Text SPIFFS：設定・呼びかけ特徴">
            <a:extLst>
              <a:ext uri="{FF2B5EF4-FFF2-40B4-BE49-F238E27FC236}">
                <a16:creationId xmlns:a16="http://schemas.microsoft.com/office/drawing/2014/main" id="{97A916D4-BA91-A2AC-78F5-ACEE04721A80}"/>
              </a:ext>
            </a:extLst>
          </p:cNvPr>
          <p:cNvSpPr txBox="1"/>
          <p:nvPr/>
        </p:nvSpPr>
        <p:spPr>
          <a:xfrm>
            <a:off x="792480" y="4813326"/>
            <a:ext cx="1957267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SPIFFS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：設定・呼びかけ特徴</a:t>
            </a:r>
          </a:p>
        </p:txBody>
      </p:sp>
      <p:sp>
        <p:nvSpPr>
          <p:cNvPr id="26" name="Text Windows 10/11 x64 / Python +">
            <a:extLst>
              <a:ext uri="{FF2B5EF4-FFF2-40B4-BE49-F238E27FC236}">
                <a16:creationId xmlns:a16="http://schemas.microsoft.com/office/drawing/2014/main" id="{F2B7157A-1D28-0542-01AD-D6116A076CD2}"/>
              </a:ext>
            </a:extLst>
          </p:cNvPr>
          <p:cNvSpPr txBox="1"/>
          <p:nvPr/>
        </p:nvSpPr>
        <p:spPr>
          <a:xfrm>
            <a:off x="4511040" y="1781632"/>
            <a:ext cx="2367636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Windows 10/11 x64 / Python + Node.js</a:t>
            </a:r>
            <a:endParaRPr kumimoji="1" lang="ja-JP" altLang="en-US" sz="1020">
              <a:solidFill>
                <a:srgbClr val="52657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Text ● 配布ホストGUI（EXE）">
            <a:extLst>
              <a:ext uri="{FF2B5EF4-FFF2-40B4-BE49-F238E27FC236}">
                <a16:creationId xmlns:a16="http://schemas.microsoft.com/office/drawing/2014/main" id="{29C704F0-1544-3B5D-FBBA-D0CD86855A7E}"/>
              </a:ext>
            </a:extLst>
          </p:cNvPr>
          <p:cNvSpPr txBox="1"/>
          <p:nvPr/>
        </p:nvSpPr>
        <p:spPr>
          <a:xfrm>
            <a:off x="4511040" y="2076145"/>
            <a:ext cx="2055050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配布ホスト</a:t>
            </a:r>
            <a:r>
              <a:rPr kumimoji="1" lang="en-US" altLang="ja-JP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GUI</a:t>
            </a:r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（</a:t>
            </a:r>
            <a:r>
              <a:rPr kumimoji="1" lang="en-US" altLang="ja-JP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EXE</a:t>
            </a:r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28" name="Text COM・LAN・APIキー / 起動・停止">
            <a:extLst>
              <a:ext uri="{FF2B5EF4-FFF2-40B4-BE49-F238E27FC236}">
                <a16:creationId xmlns:a16="http://schemas.microsoft.com/office/drawing/2014/main" id="{C99DD04B-0E11-E9BD-DD22-905086F15224}"/>
              </a:ext>
            </a:extLst>
          </p:cNvPr>
          <p:cNvSpPr txBox="1"/>
          <p:nvPr/>
        </p:nvSpPr>
        <p:spPr>
          <a:xfrm>
            <a:off x="4663440" y="2344445"/>
            <a:ext cx="2332370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COM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LAN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API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キー 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起動・停止</a:t>
            </a:r>
          </a:p>
        </p:txBody>
      </p:sp>
      <p:sp>
        <p:nvSpPr>
          <p:cNvPr id="29" name="Text 任意でキーをDPAPI暗号化保存">
            <a:extLst>
              <a:ext uri="{FF2B5EF4-FFF2-40B4-BE49-F238E27FC236}">
                <a16:creationId xmlns:a16="http://schemas.microsoft.com/office/drawing/2014/main" id="{717C133C-1830-28CC-B3BA-7DD04B2D6261}"/>
              </a:ext>
            </a:extLst>
          </p:cNvPr>
          <p:cNvSpPr txBox="1"/>
          <p:nvPr/>
        </p:nvSpPr>
        <p:spPr>
          <a:xfrm>
            <a:off x="4663440" y="2565425"/>
            <a:ext cx="2043829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任意でキーを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DPAPI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暗号化保存</a:t>
            </a:r>
          </a:p>
        </p:txBody>
      </p:sp>
      <p:sp>
        <p:nvSpPr>
          <p:cNvPr id="30" name="Text ● USBセッション管理">
            <a:extLst>
              <a:ext uri="{FF2B5EF4-FFF2-40B4-BE49-F238E27FC236}">
                <a16:creationId xmlns:a16="http://schemas.microsoft.com/office/drawing/2014/main" id="{82BF4BA4-2803-8FF0-F98F-351A1CA805DA}"/>
              </a:ext>
            </a:extLst>
          </p:cNvPr>
          <p:cNvSpPr txBox="1"/>
          <p:nvPr/>
        </p:nvSpPr>
        <p:spPr>
          <a:xfrm>
            <a:off x="4511040" y="2899105"/>
            <a:ext cx="1753685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</a:t>
            </a:r>
            <a:r>
              <a:rPr kumimoji="1" lang="en-US" altLang="ja-JP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USB</a:t>
            </a:r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セッション管理</a:t>
            </a:r>
          </a:p>
        </p:txBody>
      </p:sp>
      <p:sp>
        <p:nvSpPr>
          <p:cNvPr id="31" name="Text 接続先・認証トークンを端末RAMへ">
            <a:extLst>
              <a:ext uri="{FF2B5EF4-FFF2-40B4-BE49-F238E27FC236}">
                <a16:creationId xmlns:a16="http://schemas.microsoft.com/office/drawing/2014/main" id="{A7CAE262-C014-4FD6-BDFC-C9AC0471D144}"/>
              </a:ext>
            </a:extLst>
          </p:cNvPr>
          <p:cNvSpPr txBox="1"/>
          <p:nvPr/>
        </p:nvSpPr>
        <p:spPr>
          <a:xfrm>
            <a:off x="4663440" y="3167405"/>
            <a:ext cx="2369238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接続先・認証トークンを端末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RAM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へ</a:t>
            </a:r>
          </a:p>
        </p:txBody>
      </p:sp>
      <p:sp>
        <p:nvSpPr>
          <p:cNvPr id="32" name="Text 状態照会・稼働通知・終了診断">
            <a:extLst>
              <a:ext uri="{FF2B5EF4-FFF2-40B4-BE49-F238E27FC236}">
                <a16:creationId xmlns:a16="http://schemas.microsoft.com/office/drawing/2014/main" id="{843C1C32-4A22-0E6B-62F5-6D991195DD5C}"/>
              </a:ext>
            </a:extLst>
          </p:cNvPr>
          <p:cNvSpPr txBox="1"/>
          <p:nvPr/>
        </p:nvSpPr>
        <p:spPr>
          <a:xfrm>
            <a:off x="4663440" y="3388385"/>
            <a:ext cx="2042226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状態照会・稼働通知・終了診断</a:t>
            </a:r>
          </a:p>
        </p:txBody>
      </p:sp>
      <p:sp>
        <p:nvSpPr>
          <p:cNvPr id="33" name="Text ● Gemini中継サーバー">
            <a:extLst>
              <a:ext uri="{FF2B5EF4-FFF2-40B4-BE49-F238E27FC236}">
                <a16:creationId xmlns:a16="http://schemas.microsoft.com/office/drawing/2014/main" id="{4C48A0D0-22AA-9BCE-BD78-791370B2D7F0}"/>
              </a:ext>
            </a:extLst>
          </p:cNvPr>
          <p:cNvSpPr txBox="1"/>
          <p:nvPr/>
        </p:nvSpPr>
        <p:spPr>
          <a:xfrm>
            <a:off x="4511040" y="3722065"/>
            <a:ext cx="1821011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</a:t>
            </a:r>
            <a:r>
              <a:rPr kumimoji="1" lang="en-US" altLang="ja-JP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Gemini</a:t>
            </a:r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中継サーバー</a:t>
            </a:r>
          </a:p>
        </p:txBody>
      </p:sp>
      <p:sp>
        <p:nvSpPr>
          <p:cNvPr id="34" name="Text TypeScript / Express / ws">
            <a:extLst>
              <a:ext uri="{FF2B5EF4-FFF2-40B4-BE49-F238E27FC236}">
                <a16:creationId xmlns:a16="http://schemas.microsoft.com/office/drawing/2014/main" id="{6A5EE352-05EC-1ACD-9777-D7F2B299D8E1}"/>
              </a:ext>
            </a:extLst>
          </p:cNvPr>
          <p:cNvSpPr txBox="1"/>
          <p:nvPr/>
        </p:nvSpPr>
        <p:spPr>
          <a:xfrm>
            <a:off x="4663440" y="3990365"/>
            <a:ext cx="1748877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TypeScript / Express / ws</a:t>
            </a:r>
            <a:endParaRPr kumimoji="1" lang="ja-JP" altLang="en-US" sz="1140">
              <a:solidFill>
                <a:srgbClr val="182B4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5" name="Text 認証・PCM転送・期限 / 上限管理">
            <a:extLst>
              <a:ext uri="{FF2B5EF4-FFF2-40B4-BE49-F238E27FC236}">
                <a16:creationId xmlns:a16="http://schemas.microsoft.com/office/drawing/2014/main" id="{7575458A-3736-AD18-A753-1BFF8C7E20F0}"/>
              </a:ext>
            </a:extLst>
          </p:cNvPr>
          <p:cNvSpPr txBox="1"/>
          <p:nvPr/>
        </p:nvSpPr>
        <p:spPr>
          <a:xfrm>
            <a:off x="4663440" y="4211345"/>
            <a:ext cx="2234586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認証・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PCM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転送・期限 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上限管理</a:t>
            </a:r>
          </a:p>
        </p:txBody>
      </p:sp>
      <p:sp>
        <p:nvSpPr>
          <p:cNvPr id="36" name="Text Gemini SDK・分離worker">
            <a:extLst>
              <a:ext uri="{FF2B5EF4-FFF2-40B4-BE49-F238E27FC236}">
                <a16:creationId xmlns:a16="http://schemas.microsoft.com/office/drawing/2014/main" id="{72A69AB4-AED1-0FC1-6046-0473CD21111C}"/>
              </a:ext>
            </a:extLst>
          </p:cNvPr>
          <p:cNvSpPr txBox="1"/>
          <p:nvPr/>
        </p:nvSpPr>
        <p:spPr>
          <a:xfrm>
            <a:off x="4663440" y="4432326"/>
            <a:ext cx="1716817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Gemini SDK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・分離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worker</a:t>
            </a:r>
            <a:endParaRPr kumimoji="1" lang="ja-JP" altLang="en-US" sz="1140">
              <a:solidFill>
                <a:srgbClr val="182B4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7" name="Text EXE自己診断8項目成功 / 別PC会話は未確認">
            <a:extLst>
              <a:ext uri="{FF2B5EF4-FFF2-40B4-BE49-F238E27FC236}">
                <a16:creationId xmlns:a16="http://schemas.microsoft.com/office/drawing/2014/main" id="{E544770E-77A6-F6D1-5F6D-075BC077FF18}"/>
              </a:ext>
            </a:extLst>
          </p:cNvPr>
          <p:cNvSpPr txBox="1"/>
          <p:nvPr/>
        </p:nvSpPr>
        <p:spPr>
          <a:xfrm>
            <a:off x="4511040" y="4806772"/>
            <a:ext cx="2604880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EXE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自己診断</a:t>
            </a:r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項目成功 </a:t>
            </a:r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別</a:t>
            </a:r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会話は未確認</a:t>
            </a:r>
          </a:p>
        </p:txBody>
      </p:sp>
      <p:sp>
        <p:nvSpPr>
          <p:cNvPr id="38" name="Text Google Gemini Live API">
            <a:extLst>
              <a:ext uri="{FF2B5EF4-FFF2-40B4-BE49-F238E27FC236}">
                <a16:creationId xmlns:a16="http://schemas.microsoft.com/office/drawing/2014/main" id="{4436F833-4E49-9634-1682-D2A12CD80F8A}"/>
              </a:ext>
            </a:extLst>
          </p:cNvPr>
          <p:cNvSpPr txBox="1"/>
          <p:nvPr/>
        </p:nvSpPr>
        <p:spPr>
          <a:xfrm>
            <a:off x="8382000" y="1781632"/>
            <a:ext cx="1415452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Google Gemini Live API</a:t>
            </a:r>
            <a:endParaRPr kumimoji="1" lang="ja-JP" altLang="en-US" sz="1020">
              <a:solidFill>
                <a:srgbClr val="52657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9" name="Text ● 音声質問の理解・回答生成">
            <a:extLst>
              <a:ext uri="{FF2B5EF4-FFF2-40B4-BE49-F238E27FC236}">
                <a16:creationId xmlns:a16="http://schemas.microsoft.com/office/drawing/2014/main" id="{BA9E307E-A107-A9CB-0B28-FA5059278880}"/>
              </a:ext>
            </a:extLst>
          </p:cNvPr>
          <p:cNvSpPr txBox="1"/>
          <p:nvPr/>
        </p:nvSpPr>
        <p:spPr>
          <a:xfrm>
            <a:off x="8382000" y="2076145"/>
            <a:ext cx="2257028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音声質問の理解・回答生成</a:t>
            </a:r>
          </a:p>
        </p:txBody>
      </p:sp>
      <p:sp>
        <p:nvSpPr>
          <p:cNvPr id="40" name="Text 16 kHz / 16-bit / mono PCM入力">
            <a:extLst>
              <a:ext uri="{FF2B5EF4-FFF2-40B4-BE49-F238E27FC236}">
                <a16:creationId xmlns:a16="http://schemas.microsoft.com/office/drawing/2014/main" id="{1C49FFD3-FFFC-2E07-FC6C-D8F947B32A3C}"/>
              </a:ext>
            </a:extLst>
          </p:cNvPr>
          <p:cNvSpPr txBox="1"/>
          <p:nvPr/>
        </p:nvSpPr>
        <p:spPr>
          <a:xfrm>
            <a:off x="8534400" y="2344445"/>
            <a:ext cx="2207336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 kHz / 16-bit / mono PCM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</a:t>
            </a:r>
          </a:p>
        </p:txBody>
      </p:sp>
      <p:sp>
        <p:nvSpPr>
          <p:cNvPr id="41" name="Text 24 kHz PCM音声回答">
            <a:extLst>
              <a:ext uri="{FF2B5EF4-FFF2-40B4-BE49-F238E27FC236}">
                <a16:creationId xmlns:a16="http://schemas.microsoft.com/office/drawing/2014/main" id="{142601B9-9927-6CFB-8712-A2248BA60D29}"/>
              </a:ext>
            </a:extLst>
          </p:cNvPr>
          <p:cNvSpPr txBox="1"/>
          <p:nvPr/>
        </p:nvSpPr>
        <p:spPr>
          <a:xfrm>
            <a:off x="8534400" y="2565425"/>
            <a:ext cx="1413849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24 kHz PCM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音声回答</a:t>
            </a:r>
          </a:p>
        </p:txBody>
      </p:sp>
      <p:sp>
        <p:nvSpPr>
          <p:cNvPr id="42" name="Text ● ホスト側のAPIキーで接続">
            <a:extLst>
              <a:ext uri="{FF2B5EF4-FFF2-40B4-BE49-F238E27FC236}">
                <a16:creationId xmlns:a16="http://schemas.microsoft.com/office/drawing/2014/main" id="{E94831DE-511D-66B1-36B3-35DB6F5AF750}"/>
              </a:ext>
            </a:extLst>
          </p:cNvPr>
          <p:cNvSpPr txBox="1"/>
          <p:nvPr/>
        </p:nvSpPr>
        <p:spPr>
          <a:xfrm>
            <a:off x="8382000" y="2899105"/>
            <a:ext cx="2189702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● ホスト側の</a:t>
            </a:r>
            <a:r>
              <a:rPr kumimoji="1" lang="en-US" altLang="ja-JP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API</a:t>
            </a:r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キーで接続</a:t>
            </a:r>
          </a:p>
        </p:txBody>
      </p:sp>
      <p:sp>
        <p:nvSpPr>
          <p:cNvPr id="43" name="Text @google/genai SDK">
            <a:extLst>
              <a:ext uri="{FF2B5EF4-FFF2-40B4-BE49-F238E27FC236}">
                <a16:creationId xmlns:a16="http://schemas.microsoft.com/office/drawing/2014/main" id="{EA45A51A-4AF4-6363-745D-FD6ED1D27B19}"/>
              </a:ext>
            </a:extLst>
          </p:cNvPr>
          <p:cNvSpPr txBox="1"/>
          <p:nvPr/>
        </p:nvSpPr>
        <p:spPr>
          <a:xfrm>
            <a:off x="8534400" y="3167405"/>
            <a:ext cx="1351332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@google/genai SDK</a:t>
            </a:r>
            <a:endParaRPr kumimoji="1" lang="ja-JP" altLang="en-US" sz="1140">
              <a:solidFill>
                <a:srgbClr val="182B4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4" name="Text 登録音声・呼びかけは送信しない">
            <a:extLst>
              <a:ext uri="{FF2B5EF4-FFF2-40B4-BE49-F238E27FC236}">
                <a16:creationId xmlns:a16="http://schemas.microsoft.com/office/drawing/2014/main" id="{91B8F6A4-5921-EB4A-0A7C-9B1F17CC8713}"/>
              </a:ext>
            </a:extLst>
          </p:cNvPr>
          <p:cNvSpPr txBox="1"/>
          <p:nvPr/>
        </p:nvSpPr>
        <p:spPr>
          <a:xfrm>
            <a:off x="8534400" y="3388385"/>
            <a:ext cx="2188100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登録音声・呼びかけは送信しない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D63CF689-2A3C-FDC3-751B-3DECC278A740}"/>
              </a:ext>
            </a:extLst>
          </p:cNvPr>
          <p:cNvCxnSpPr/>
          <p:nvPr/>
        </p:nvCxnSpPr>
        <p:spPr>
          <a:xfrm>
            <a:off x="8382000" y="3756660"/>
            <a:ext cx="3162300" cy="0"/>
          </a:xfrm>
          <a:prstGeom prst="line">
            <a:avLst/>
          </a:prstGeom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◇ 会話履歴・複数ターン">
            <a:extLst>
              <a:ext uri="{FF2B5EF4-FFF2-40B4-BE49-F238E27FC236}">
                <a16:creationId xmlns:a16="http://schemas.microsoft.com/office/drawing/2014/main" id="{D56A99D3-672A-F1BC-F763-43F18A9B8BBA}"/>
              </a:ext>
            </a:extLst>
          </p:cNvPr>
          <p:cNvSpPr txBox="1"/>
          <p:nvPr/>
        </p:nvSpPr>
        <p:spPr>
          <a:xfrm>
            <a:off x="8382000" y="3882085"/>
            <a:ext cx="1917192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◇ 会話履歴・複数ターン</a:t>
            </a:r>
          </a:p>
        </p:txBody>
      </p:sp>
      <p:sp>
        <p:nvSpPr>
          <p:cNvPr id="47" name="Text 現在は1質問1回答">
            <a:extLst>
              <a:ext uri="{FF2B5EF4-FFF2-40B4-BE49-F238E27FC236}">
                <a16:creationId xmlns:a16="http://schemas.microsoft.com/office/drawing/2014/main" id="{1EA87967-D0EA-F06B-7113-6485F2F1FD59}"/>
              </a:ext>
            </a:extLst>
          </p:cNvPr>
          <p:cNvSpPr txBox="1"/>
          <p:nvPr/>
        </p:nvSpPr>
        <p:spPr>
          <a:xfrm>
            <a:off x="8534400" y="4150385"/>
            <a:ext cx="1184620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現在は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質問</a:t>
            </a:r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回答</a:t>
            </a:r>
          </a:p>
        </p:txBody>
      </p:sp>
      <p:sp>
        <p:nvSpPr>
          <p:cNvPr id="48" name="Text ⏸ クラウド中継への移行">
            <a:extLst>
              <a:ext uri="{FF2B5EF4-FFF2-40B4-BE49-F238E27FC236}">
                <a16:creationId xmlns:a16="http://schemas.microsoft.com/office/drawing/2014/main" id="{85FA1BFA-1A6E-3702-A018-489DF70B06F0}"/>
              </a:ext>
            </a:extLst>
          </p:cNvPr>
          <p:cNvSpPr txBox="1"/>
          <p:nvPr/>
        </p:nvSpPr>
        <p:spPr>
          <a:xfrm>
            <a:off x="8382000" y="4484065"/>
            <a:ext cx="1917192" cy="2031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320" b="1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⏸ クラウド中継への移行</a:t>
            </a:r>
          </a:p>
        </p:txBody>
      </p:sp>
      <p:sp>
        <p:nvSpPr>
          <p:cNvPr id="49" name="Text AI Studio / Cloud Run：公開保留">
            <a:extLst>
              <a:ext uri="{FF2B5EF4-FFF2-40B4-BE49-F238E27FC236}">
                <a16:creationId xmlns:a16="http://schemas.microsoft.com/office/drawing/2014/main" id="{AC8A93F6-D501-963C-58A4-E354F75EFB6B}"/>
              </a:ext>
            </a:extLst>
          </p:cNvPr>
          <p:cNvSpPr txBox="1"/>
          <p:nvPr/>
        </p:nvSpPr>
        <p:spPr>
          <a:xfrm>
            <a:off x="8534400" y="4752365"/>
            <a:ext cx="2194512" cy="1754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AI Studio / Cloud Run</a:t>
            </a:r>
            <a:r>
              <a:rPr kumimoji="1" lang="ja-JP" altLang="en-US" sz="1140">
                <a:solidFill>
                  <a:srgbClr val="182B4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：公開保留</a:t>
            </a: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A69A510B-083A-30BE-B41B-B8347C0368AC}"/>
              </a:ext>
            </a:extLst>
          </p:cNvPr>
          <p:cNvCxnSpPr/>
          <p:nvPr/>
        </p:nvCxnSpPr>
        <p:spPr>
          <a:xfrm>
            <a:off x="4000500" y="2042160"/>
            <a:ext cx="327660" cy="0"/>
          </a:xfrm>
          <a:prstGeom prst="line">
            <a:avLst/>
          </a:prstGeom>
          <a:ln w="22860">
            <a:solidFill>
              <a:srgbClr val="1686A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804803A-9C20-3A17-6A74-3183D8A1A1D1}"/>
              </a:ext>
            </a:extLst>
          </p:cNvPr>
          <p:cNvCxnSpPr/>
          <p:nvPr/>
        </p:nvCxnSpPr>
        <p:spPr>
          <a:xfrm>
            <a:off x="7871460" y="2042160"/>
            <a:ext cx="327660" cy="0"/>
          </a:xfrm>
          <a:prstGeom prst="line">
            <a:avLst/>
          </a:prstGeom>
          <a:ln w="22860">
            <a:solidFill>
              <a:srgbClr val="1686A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5944354-F586-C124-6429-DDBC5F6F3617}"/>
              </a:ext>
            </a:extLst>
          </p:cNvPr>
          <p:cNvSpPr/>
          <p:nvPr/>
        </p:nvSpPr>
        <p:spPr>
          <a:xfrm>
            <a:off x="457200" y="5608320"/>
            <a:ext cx="7414260" cy="609600"/>
          </a:xfrm>
          <a:prstGeom prst="rect">
            <a:avLst/>
          </a:prstGeom>
          <a:solidFill>
            <a:srgbClr val="E3F0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Text 端末 ⇄ PC　① USB CDC / シリアル 115">
            <a:extLst>
              <a:ext uri="{FF2B5EF4-FFF2-40B4-BE49-F238E27FC236}">
                <a16:creationId xmlns:a16="http://schemas.microsoft.com/office/drawing/2014/main" id="{8862AD7C-13D2-8630-2AB7-7C9B0B73F4F6}"/>
              </a:ext>
            </a:extLst>
          </p:cNvPr>
          <p:cNvSpPr txBox="1"/>
          <p:nvPr/>
        </p:nvSpPr>
        <p:spPr>
          <a:xfrm>
            <a:off x="609600" y="5690692"/>
            <a:ext cx="442909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端末 ⇄ 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① 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USB CDC / 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シリアル 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115200 bps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：設定・制御・状態照会</a:t>
            </a:r>
          </a:p>
        </p:txBody>
      </p:sp>
      <p:sp>
        <p:nvSpPr>
          <p:cNvPr id="54" name="Text 　　　　　 ② 家庭内LAN / 平文WebSocket">
            <a:extLst>
              <a:ext uri="{FF2B5EF4-FFF2-40B4-BE49-F238E27FC236}">
                <a16:creationId xmlns:a16="http://schemas.microsoft.com/office/drawing/2014/main" id="{7E785AD1-F5E6-758C-5886-486CC0CB1578}"/>
              </a:ext>
            </a:extLst>
          </p:cNvPr>
          <p:cNvSpPr txBox="1"/>
          <p:nvPr/>
        </p:nvSpPr>
        <p:spPr>
          <a:xfrm>
            <a:off x="609600" y="5926912"/>
            <a:ext cx="4985339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　　　　 ② 家庭内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LAN / 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平文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WebSocket / protocol v2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：認証付き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PCM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音声転送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1295A1A-65E3-ABFF-52B0-44A3269FD3AF}"/>
              </a:ext>
            </a:extLst>
          </p:cNvPr>
          <p:cNvSpPr/>
          <p:nvPr/>
        </p:nvSpPr>
        <p:spPr>
          <a:xfrm>
            <a:off x="8023860" y="5608320"/>
            <a:ext cx="3718560" cy="609600"/>
          </a:xfrm>
          <a:prstGeom prst="rect">
            <a:avLst/>
          </a:prstGeom>
          <a:solidFill>
            <a:srgbClr val="EEE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Text PC ⇄ クラウド　Gemini Live / WSS">
            <a:extLst>
              <a:ext uri="{FF2B5EF4-FFF2-40B4-BE49-F238E27FC236}">
                <a16:creationId xmlns:a16="http://schemas.microsoft.com/office/drawing/2014/main" id="{03C85C7A-1330-181D-FCC6-4595BF678750}"/>
              </a:ext>
            </a:extLst>
          </p:cNvPr>
          <p:cNvSpPr txBox="1"/>
          <p:nvPr/>
        </p:nvSpPr>
        <p:spPr>
          <a:xfrm>
            <a:off x="8176260" y="5690692"/>
            <a:ext cx="2232984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 ⇄ 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クラウド　</a:t>
            </a:r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Gemini Live / WSS</a:t>
            </a:r>
            <a:endParaRPr kumimoji="1" lang="ja-JP" altLang="en-US" sz="1020" b="1">
              <a:solidFill>
                <a:srgbClr val="176B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7" name="Text SDK経由で質問送信・音声回答受信">
            <a:extLst>
              <a:ext uri="{FF2B5EF4-FFF2-40B4-BE49-F238E27FC236}">
                <a16:creationId xmlns:a16="http://schemas.microsoft.com/office/drawing/2014/main" id="{50E9F98C-A507-7EAD-5404-1124729A97F0}"/>
              </a:ext>
            </a:extLst>
          </p:cNvPr>
          <p:cNvSpPr txBox="1"/>
          <p:nvPr/>
        </p:nvSpPr>
        <p:spPr>
          <a:xfrm>
            <a:off x="8176260" y="5926912"/>
            <a:ext cx="2109552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en-US" altLang="ja-JP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SDK</a:t>
            </a:r>
            <a:r>
              <a:rPr kumimoji="1" lang="ja-JP" altLang="en-US" sz="1020" b="1">
                <a:solidFill>
                  <a:srgbClr val="176B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経由で質問送信・音声回答受信</a:t>
            </a:r>
          </a:p>
        </p:txBody>
      </p:sp>
      <p:sp>
        <p:nvSpPr>
          <p:cNvPr id="58" name="Text 残課題：長期精度・電源断耐性・切断復帰・配布EXE再生成">
            <a:extLst>
              <a:ext uri="{FF2B5EF4-FFF2-40B4-BE49-F238E27FC236}">
                <a16:creationId xmlns:a16="http://schemas.microsoft.com/office/drawing/2014/main" id="{7B051ADA-8CCC-5BF6-03EF-53F1DFF3615B}"/>
              </a:ext>
            </a:extLst>
          </p:cNvPr>
          <p:cNvSpPr txBox="1"/>
          <p:nvPr/>
        </p:nvSpPr>
        <p:spPr>
          <a:xfrm>
            <a:off x="457200" y="6376492"/>
            <a:ext cx="5556008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残課題：長期精度・電源断耐性・切断復帰・配布</a:t>
            </a:r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EXE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再生成 </a:t>
            </a:r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別</a:t>
            </a:r>
            <a:r>
              <a:rPr kumimoji="1" lang="en-US" altLang="ja-JP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1020">
                <a:solidFill>
                  <a:srgbClr val="52657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試験・連続ストリーミング</a:t>
            </a:r>
          </a:p>
        </p:txBody>
      </p:sp>
      <p:sp>
        <p:nvSpPr>
          <p:cNvPr id="59" name="Text 確認済み資料：WAKE_STAGE3_R07 / GIT">
            <a:extLst>
              <a:ext uri="{FF2B5EF4-FFF2-40B4-BE49-F238E27FC236}">
                <a16:creationId xmlns:a16="http://schemas.microsoft.com/office/drawing/2014/main" id="{B2DA8553-BA7C-4484-4394-AB0B05CB6C60}"/>
              </a:ext>
            </a:extLst>
          </p:cNvPr>
          <p:cNvSpPr txBox="1"/>
          <p:nvPr/>
        </p:nvSpPr>
        <p:spPr>
          <a:xfrm>
            <a:off x="457200" y="6606692"/>
            <a:ext cx="6137899" cy="1292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kumimoji="1" lang="ja-JP" altLang="en-US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確認済み資料：</a:t>
            </a:r>
            <a:r>
              <a:rPr kumimoji="1" lang="en-US" altLang="ja-JP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WAKE_STAGE3_R07 / GITHUB_SYNC_2026-10-20 / desktop README</a:t>
            </a:r>
            <a:r>
              <a:rPr kumimoji="1" lang="ja-JP" altLang="en-US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</a:t>
            </a:r>
            <a:r>
              <a:rPr kumimoji="1" lang="en-US" altLang="ja-JP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※</a:t>
            </a:r>
            <a:r>
              <a:rPr kumimoji="1" lang="ja-JP" altLang="en-US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従来の端末単体</a:t>
            </a:r>
            <a:r>
              <a:rPr kumimoji="1" lang="en-US" altLang="ja-JP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OpenAI</a:t>
            </a:r>
            <a:r>
              <a:rPr kumimoji="1" lang="ja-JP" altLang="en-US" sz="840">
                <a:solidFill>
                  <a:srgbClr val="77869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構成は省略</a:t>
            </a:r>
          </a:p>
        </p:txBody>
      </p:sp>
    </p:spTree>
    <p:extLst>
      <p:ext uri="{BB962C8B-B14F-4D97-AF65-F5344CB8AC3E}">
        <p14:creationId xmlns:p14="http://schemas.microsoft.com/office/powerpoint/2010/main" val="2949269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ユーザー設定</PresentationFormat>
  <Paragraphs>46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tomoya saeki</dc:creator>
  <cp:lastModifiedBy>tomoya saeki</cp:lastModifiedBy>
  <cp:revision>1</cp:revision>
  <dcterms:created xsi:type="dcterms:W3CDTF">2026-10-20T06:23:27Z</dcterms:created>
  <dcterms:modified xsi:type="dcterms:W3CDTF">2026-10-20T06:23:27Z</dcterms:modified>
</cp:coreProperties>
</file>